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Understanding the Topic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273344"/>
                </a:solidFill>
                <a:latin typeface="Aptos"/>
              </a:rPr>
              <a:t>Four ideas that define the Cortix approach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02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257800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764792"/>
            <a:ext cx="502920" cy="502920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64792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01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200" y="1709928"/>
            <a:ext cx="40233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Nutrition estimation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2167128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Predict approximate calories, protein, carbohydrates and fat from a meal photo.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257800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764792"/>
            <a:ext cx="502920" cy="502920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64792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02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78040" y="1709928"/>
            <a:ext cx="40233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Multimodal inputs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78040" y="2167128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Combine the image with available clues such as dish name, ingredients or portion details.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5257800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822191"/>
            <a:ext cx="502920" cy="502920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22191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03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3767328"/>
            <a:ext cx="40233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Uncertainty-aware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4224528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Show a range or ask a clarifying question when the image does not provide enough evidence.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3566160"/>
            <a:ext cx="5257800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3822191"/>
            <a:ext cx="502920" cy="502920"/>
          </a:xfrm>
          <a:prstGeom prst="ellipse">
            <a:avLst/>
          </a:prstGeom>
          <a:solidFill>
            <a:srgbClr val="FFCD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822191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04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78040" y="3767328"/>
            <a:ext cx="40233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Cross-cuisine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78040" y="4224528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Evaluate on Indian, East Asian and Western meals—not only familiar training examples.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3232" y="5742432"/>
            <a:ext cx="107899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788152"/>
            <a:ext cx="1042416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9DA0"/>
                </a:solidFill>
                <a:latin typeface="Aptos"/>
              </a:rPr>
              <a:t>In one line: estimate the meal, combine clues, test across cuisines, and be transparent about uncertainty.</a:t>
            </a:r>
            <a:endParaRPr sz="1200" b="1" i="0">
              <a:solidFill>
                <a:srgbClr val="279DA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Case Understanding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273344"/>
                </a:solidFill>
                <a:latin typeface="Aptos"/>
              </a:rPr>
              <a:t>A food photo shows visible clues, but hides key nutrition details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03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60020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600200"/>
            <a:ext cx="64008" cy="2011680"/>
          </a:xfrm>
          <a:prstGeom prst="rect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46504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Hidden ingredients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3044952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73344"/>
                </a:solidFill>
                <a:latin typeface="Aptos"/>
              </a:rPr>
              <a:t>Oil, ghee, dressings and sauces may not be visible in the image.</a:t>
            </a:r>
            <a:endParaRPr sz="12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600200"/>
            <a:ext cx="64008" cy="2011680"/>
          </a:xfrm>
          <a:prstGeom prst="rect">
            <a:avLst/>
          </a:prstGeom>
          <a:solidFill>
            <a:srgbClr val="FFCD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46504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Unclear portion size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3044952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73344"/>
                </a:solidFill>
                <a:latin typeface="Aptos"/>
              </a:rPr>
              <a:t>Small and large servings can look similar from one camera angle.</a:t>
            </a:r>
            <a:endParaRPr sz="12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28431" y="160020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600200"/>
            <a:ext cx="64008" cy="2011680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46504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Cuisine variation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044952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73344"/>
                </a:solidFill>
                <a:latin typeface="Aptos"/>
              </a:rPr>
              <a:t>Models may struggle when a dish differs from their training examples.</a:t>
            </a:r>
            <a:endParaRPr sz="12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DDCDC"/>
                </a:solidFill>
                <a:latin typeface="Aptos"/>
              </a:rPr>
              <a:t>PHOTO EVIDENCE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4617720"/>
            <a:ext cx="23317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D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681728"/>
            <a:ext cx="2185415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Visible food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6968" y="5010912"/>
            <a:ext cx="211226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shape • colour • dish cues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5029200"/>
            <a:ext cx="73152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23360" y="4617720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8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2" y="4681728"/>
            <a:ext cx="26883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Missing context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33088" y="5010912"/>
            <a:ext cx="261518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oil • weight • ingredients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949440" y="5029200"/>
            <a:ext cx="685800" cy="0"/>
          </a:xfrm>
          <a:prstGeom prst="line">
            <a:avLst/>
          </a:prstGeom>
          <a:ln w="2540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26679" y="461772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C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9831" y="4681728"/>
            <a:ext cx="323697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Risk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36407" y="5010912"/>
            <a:ext cx="31638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a precise-looking but unreliable number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Final Problem Statement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t>Food photos hide key details, making cross-cuisine nutrition estimates uncertain.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04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38328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6858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3DDCDC"/>
                </a:solidFill>
                <a:latin typeface="Aptos"/>
              </a:rPr>
              <a:t>01</a:t>
            </a:r>
            <a:endParaRPr sz="20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1560" y="2606040"/>
            <a:ext cx="548640" cy="45720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283464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Show a range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3337560"/>
            <a:ext cx="2880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Return an estimated interval when appropriate—not only one number.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17720" y="1828800"/>
            <a:ext cx="338328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6858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279DA0"/>
                </a:solidFill>
                <a:latin typeface="Aptos"/>
              </a:rPr>
              <a:t>02</a:t>
            </a:r>
            <a:endParaRPr sz="2000" b="1" i="0">
              <a:solidFill>
                <a:srgbClr val="279DA0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46320" y="2606040"/>
            <a:ext cx="548640" cy="45720"/>
          </a:xfrm>
          <a:prstGeom prst="rect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834640"/>
            <a:ext cx="283464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Test new cuisines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46320" y="3337560"/>
            <a:ext cx="2880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Measure how performance changes across different food styles.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12480" y="1828800"/>
            <a:ext cx="338328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011680"/>
            <a:ext cx="6858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FF8770"/>
                </a:solidFill>
                <a:latin typeface="Aptos"/>
              </a:rPr>
              <a:t>03</a:t>
            </a:r>
            <a:endParaRPr sz="2000" b="1" i="0">
              <a:solidFill>
                <a:srgbClr val="FF8770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41080" y="2606040"/>
            <a:ext cx="548640" cy="45720"/>
          </a:xfrm>
          <a:prstGeom prst="rect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834640"/>
            <a:ext cx="283464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1" i="0">
                <a:solidFill>
                  <a:srgbClr val="273344"/>
                </a:solidFill>
                <a:latin typeface="Aptos"/>
              </a:rPr>
              <a:t>Ask when needed</a:t>
            </a:r>
            <a:endParaRPr sz="1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41080" y="3337560"/>
            <a:ext cx="2880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Request portion size or added-oil details only when they may change the estimate.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51560" y="49834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D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5047488"/>
            <a:ext cx="21396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Estimate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61288" y="5376672"/>
            <a:ext cx="2066543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Initial prediction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3383280" y="5321808"/>
            <a:ext cx="77724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51960" y="49834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4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5047488"/>
            <a:ext cx="21396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Check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61688" y="5376672"/>
            <a:ext cx="2066543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Assess uncertainty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583680" y="5321808"/>
            <a:ext cx="777240" cy="0"/>
          </a:xfrm>
          <a:prstGeom prst="line">
            <a:avLst/>
          </a:prstGeom>
          <a:ln w="25400">
            <a:solidFill>
              <a:srgbClr val="94F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52360" y="4983480"/>
            <a:ext cx="30175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8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12" y="5047488"/>
            <a:ext cx="2871215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Improve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62088" y="5376672"/>
            <a:ext cx="2798063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Ask or show a range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1560" y="5925312"/>
            <a:ext cx="97840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0" i="1">
                <a:solidFill>
                  <a:srgbClr val="273344"/>
                </a:solidFill>
                <a:latin typeface="Aptos"/>
              </a:rPr>
              <a:t>Success means better transparency—not a promise of perfect accuracy.</a:t>
            </a:r>
            <a:endParaRPr sz="1100" b="0" i="1">
              <a:solidFill>
                <a:srgbClr val="273344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5596128"/>
            <a:ext cx="10561320" cy="594360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E8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60136"/>
            <a:ext cx="101955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1A2B45"/>
                </a:solidFill>
                <a:latin typeface="Aptos"/>
              </a:rPr>
              <a:t>Key design choice: estimate → quantify uncertainty → decide whether to report, qualify or request more input.</a:t>
            </a:r>
            <a:endParaRPr sz="1050" b="1">
              <a:solidFill>
                <a:srgbClr val="1A2B4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Proposed Solution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273344"/>
                </a:solidFill>
                <a:latin typeface="Aptos"/>
              </a:rPr>
              <a:t>Three connected modules turn a photo into a responsible estimate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05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D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75688"/>
            <a:ext cx="277977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01  Food understanding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2404872"/>
            <a:ext cx="2706624" cy="10698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Photo + available dish or ingredient details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761488"/>
            <a:ext cx="64008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34840" y="201168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4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075688"/>
            <a:ext cx="277977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02  Nutrition estimate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44568" y="2404872"/>
            <a:ext cx="2706624" cy="10698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Approximate calories, protein, carbs and fat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2761488"/>
            <a:ext cx="640080" cy="0"/>
          </a:xfrm>
          <a:prstGeom prst="line">
            <a:avLst/>
          </a:prstGeom>
          <a:ln w="25400">
            <a:solidFill>
              <a:srgbClr val="94F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2011680"/>
            <a:ext cx="32004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8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075688"/>
            <a:ext cx="30540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03  Confidence check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404872"/>
            <a:ext cx="2980944" cy="10698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Decide whether to show, qualify or refine result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738360" y="3566160"/>
            <a:ext cx="0" cy="685800"/>
          </a:xfrm>
          <a:prstGeom prst="line">
            <a:avLst/>
          </a:prstGeom>
          <a:ln w="2540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18120" y="4251960"/>
            <a:ext cx="1920240" cy="0"/>
          </a:xfrm>
          <a:prstGeom prst="line">
            <a:avLst/>
          </a:prstGeom>
          <a:ln w="2540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38360" y="4251960"/>
            <a:ext cx="1005840" cy="0"/>
          </a:xfrm>
          <a:prstGeom prst="line">
            <a:avLst/>
          </a:prstGeom>
          <a:ln w="2540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37960" y="452628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4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4590288"/>
            <a:ext cx="23682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Enough evidence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47688" y="4919472"/>
            <a:ext cx="229514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Show estimate + range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35440" y="45262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C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4590288"/>
            <a:ext cx="223113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More context needed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45167" y="4919472"/>
            <a:ext cx="2157984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Ask about size or oil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842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1A2B45"/>
                </a:solidFill>
                <a:latin typeface="Aptos"/>
              </a:rPr>
              <a:t>Example: Indian Thali Analysis</a:t>
            </a:r>
            <a:endParaRPr sz="2500" b="1">
              <a:solidFill>
                <a:srgbClr val="1A2B45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5B6C81"/>
                </a:solidFill>
                <a:latin typeface="Aptos"/>
              </a:rPr>
              <a:t>Illustrative example of how a food image could be processed by Cortix</a:t>
            </a:r>
            <a:endParaRPr sz="1050" b="0">
              <a:solidFill>
                <a:srgbClr val="5B6C81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1051560"/>
            <a:ext cx="685800" cy="50292"/>
          </a:xfrm>
          <a:prstGeom prst="rect">
            <a:avLst/>
          </a:prstGeom>
          <a:solidFill>
            <a:srgbClr val="2E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2E85BE"/>
                </a:solidFill>
                <a:latin typeface="Aptos"/>
              </a:rPr>
              <a:t>07</a:t>
            </a:r>
            <a:endParaRPr sz="1100" b="1">
              <a:solidFill>
                <a:srgbClr val="2E85BE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4882896"/>
            <a:ext cx="46177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73344"/>
                </a:solidFill>
                <a:latin typeface="Aptos"/>
              </a:rPr>
              <a:t>Meal: roti, rice, dal, mixed vegetables, pickle and raita</a:t>
            </a:r>
            <a:endParaRPr sz="1000" b="1">
              <a:solidFill>
                <a:srgbClr val="273344"/>
              </a:solidFill>
              <a:latin typeface="Apto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51280"/>
            <a:ext cx="10722610" cy="517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Feasibility &amp; Implementation Plan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273344"/>
                </a:solidFill>
                <a:latin typeface="Aptos"/>
              </a:rPr>
              <a:t>Start with a small prototype, then add and test features in stages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08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914400" y="1554480"/>
            <a:ext cx="438912" cy="438912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1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00200" y="1444752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D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73352" y="1508760"/>
            <a:ext cx="3785615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Collect data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09928" y="1837944"/>
            <a:ext cx="371246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Food images + nutrition labels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133856" y="2011680"/>
            <a:ext cx="0" cy="292608"/>
          </a:xfrm>
          <a:prstGeom prst="line">
            <a:avLst/>
          </a:prstGeom>
          <a:ln w="16510">
            <a:solidFill>
              <a:srgbClr val="AE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450592"/>
            <a:ext cx="438912" cy="438912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50592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2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00200" y="2340864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4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3352" y="2404872"/>
            <a:ext cx="3785615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Establish references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09928" y="2734056"/>
            <a:ext cx="371246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Use nutrition tables to check values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133856" y="2907792"/>
            <a:ext cx="0" cy="292608"/>
          </a:xfrm>
          <a:prstGeom prst="line">
            <a:avLst/>
          </a:prstGeom>
          <a:ln w="16510">
            <a:solidFill>
              <a:srgbClr val="AE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4400" y="3346704"/>
            <a:ext cx="438912" cy="438912"/>
          </a:xfrm>
          <a:prstGeom prst="ellipse">
            <a:avLst/>
          </a:prstGeom>
          <a:solidFill>
            <a:srgbClr val="FFCD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46704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3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00200" y="3236976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C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73352" y="3300984"/>
            <a:ext cx="3785615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Build prototype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09928" y="3630168"/>
            <a:ext cx="371246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Photo upload + nutrition result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133856" y="3803904"/>
            <a:ext cx="0" cy="292608"/>
          </a:xfrm>
          <a:prstGeom prst="line">
            <a:avLst/>
          </a:prstGeom>
          <a:ln w="16510">
            <a:solidFill>
              <a:srgbClr val="AE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14400" y="4242816"/>
            <a:ext cx="438912" cy="438912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42816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4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600200" y="4133087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8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73352" y="4197096"/>
            <a:ext cx="3785615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Add uncertainty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09928" y="4526279"/>
            <a:ext cx="371246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Ranges + portion/oil questions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1133856" y="4700016"/>
            <a:ext cx="0" cy="292607"/>
          </a:xfrm>
          <a:prstGeom prst="line">
            <a:avLst/>
          </a:prstGeom>
          <a:ln w="16510">
            <a:solidFill>
              <a:srgbClr val="AE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14400" y="5138928"/>
            <a:ext cx="438912" cy="438912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38928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B1226"/>
                </a:solidFill>
                <a:latin typeface="Aptos"/>
              </a:rPr>
              <a:t>5</a:t>
            </a:r>
            <a:endParaRPr sz="12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600200" y="5029200"/>
            <a:ext cx="39319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D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73352" y="5093208"/>
            <a:ext cx="3785615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Test across cuisines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09928" y="5422392"/>
            <a:ext cx="3712463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Record strengths and failure cases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400800" y="1828800"/>
            <a:ext cx="42976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2148840"/>
            <a:ext cx="36576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3DDCDC"/>
                </a:solidFill>
                <a:latin typeface="Aptos"/>
              </a:rPr>
              <a:t>PROTOTYPE MILESTONES</a:t>
            </a:r>
            <a:endParaRPr sz="14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766560" y="2788920"/>
            <a:ext cx="164592" cy="164592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2724912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Working photo-upload flow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766560" y="3291839"/>
            <a:ext cx="164592" cy="164592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3227832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Nutrient estimate output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766560" y="3794760"/>
            <a:ext cx="164592" cy="164592"/>
          </a:xfrm>
          <a:prstGeom prst="ellipse">
            <a:avLst/>
          </a:prstGeom>
          <a:solidFill>
            <a:srgbClr val="FFCD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3730752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Uncertainty / clarification logic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766560" y="4297680"/>
            <a:ext cx="164592" cy="164592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4233672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273344"/>
                </a:solidFill>
                <a:latin typeface="Aptos"/>
              </a:rPr>
              <a:t>Cross-cuisine test log</a:t>
            </a:r>
            <a:endParaRPr sz="12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29400" y="5486400"/>
            <a:ext cx="39319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0" i="1">
                <a:solidFill>
                  <a:srgbClr val="273344"/>
                </a:solidFill>
                <a:latin typeface="Aptos"/>
              </a:rPr>
              <a:t>Keep every result traceable to its data and assumptions.</a:t>
            </a:r>
            <a:endParaRPr sz="1100" b="0" i="1">
              <a:solidFill>
                <a:srgbClr val="2733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How We Will Evaluate It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273344"/>
                </a:solidFill>
                <a:latin typeface="Aptos"/>
              </a:rPr>
              <a:t>Evaluation criteria planned for the prototype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09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D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209397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Test set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587752"/>
            <a:ext cx="2020824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Known meals + reference values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2724912"/>
            <a:ext cx="54864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2194560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4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258568"/>
            <a:ext cx="209397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273344"/>
                </a:solidFill>
                <a:latin typeface="Aptos"/>
              </a:rPr>
              <a:t>Run model</a:t>
            </a:r>
            <a:endParaRPr sz="14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58768" y="2587752"/>
            <a:ext cx="2020824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273344"/>
                </a:solidFill>
                <a:latin typeface="Aptos"/>
              </a:rPr>
              <a:t>Predict nutrients + range</a:t>
            </a:r>
            <a:endParaRPr sz="1050" b="0" i="0">
              <a:solidFill>
                <a:srgbClr val="273344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2724912"/>
            <a:ext cx="502920" cy="0"/>
          </a:xfrm>
          <a:prstGeom prst="line">
            <a:avLst/>
          </a:prstGeom>
          <a:ln w="25400">
            <a:solidFill>
              <a:srgbClr val="94F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29400" y="2724912"/>
            <a:ext cx="365760" cy="0"/>
          </a:xfrm>
          <a:prstGeom prst="line">
            <a:avLst/>
          </a:prstGeom>
          <a:ln w="1905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95160" y="1828800"/>
            <a:ext cx="0" cy="2651760"/>
          </a:xfrm>
          <a:prstGeom prst="line">
            <a:avLst/>
          </a:prstGeom>
          <a:ln w="1905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95160" y="1828800"/>
            <a:ext cx="411480" cy="0"/>
          </a:xfrm>
          <a:prstGeom prst="line">
            <a:avLst/>
          </a:prstGeom>
          <a:ln w="1905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3154680"/>
            <a:ext cx="411480" cy="0"/>
          </a:xfrm>
          <a:prstGeom prst="line">
            <a:avLst/>
          </a:prstGeom>
          <a:ln w="1905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95160" y="4480560"/>
            <a:ext cx="411480" cy="0"/>
          </a:xfrm>
          <a:prstGeom prst="line">
            <a:avLst/>
          </a:prstGeom>
          <a:ln w="19050">
            <a:solidFill>
              <a:srgbClr val="FF8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1389888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3D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1453896"/>
            <a:ext cx="32826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273344"/>
                </a:solidFill>
                <a:latin typeface="Aptos"/>
              </a:rPr>
              <a:t>Nutrition error</a:t>
            </a:r>
            <a:endParaRPr sz="13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07807" y="1783080"/>
            <a:ext cx="3209544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Compare predicted and reference values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98079" y="2724912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4F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788920"/>
            <a:ext cx="32826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273344"/>
                </a:solidFill>
                <a:latin typeface="Aptos"/>
              </a:rPr>
              <a:t>Range quality</a:t>
            </a:r>
            <a:endParaRPr sz="13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07807" y="3118104"/>
            <a:ext cx="3209544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Check how often truth falls in the range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98079" y="4050791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FC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4114800"/>
            <a:ext cx="32826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273344"/>
                </a:solidFill>
                <a:latin typeface="Aptos"/>
              </a:rPr>
              <a:t>Cuisine performance</a:t>
            </a:r>
            <a:endParaRPr sz="13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07807" y="4443983"/>
            <a:ext cx="3209544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273344"/>
                </a:solidFill>
                <a:latin typeface="Aptos"/>
              </a:rPr>
              <a:t>Compare outcomes by food style</a:t>
            </a:r>
            <a:endParaRPr sz="9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14400" y="5166360"/>
            <a:ext cx="57150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321808"/>
            <a:ext cx="525780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273344"/>
                </a:solidFill>
                <a:latin typeface="Aptos"/>
              </a:rPr>
              <a:t>Report results only after testing—no accuracy claims in advance.</a:t>
            </a:r>
            <a:endParaRPr sz="1200" b="1" i="0">
              <a:solidFill>
                <a:srgbClr val="2733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Risks &amp; Limitations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273344"/>
                </a:solidFill>
                <a:latin typeface="Aptos"/>
              </a:rPr>
              <a:t>A useful support tool, but not a perfect measurement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10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50749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5074920" cy="109728"/>
          </a:xfrm>
          <a:prstGeom prst="rect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42976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279DA0"/>
                </a:solidFill>
                <a:latin typeface="Aptos"/>
              </a:rPr>
              <a:t>POTENTIAL BENEFITS</a:t>
            </a:r>
            <a:endParaRPr sz="1600" b="1" i="0">
              <a:solidFill>
                <a:srgbClr val="279DA0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697480"/>
            <a:ext cx="228600" cy="228600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633472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73344"/>
                </a:solidFill>
                <a:latin typeface="Aptos"/>
              </a:rPr>
              <a:t>Faster meal logging</a:t>
            </a:r>
            <a:endParaRPr sz="13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43000" y="3383280"/>
            <a:ext cx="228600" cy="228600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319272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73344"/>
                </a:solidFill>
                <a:latin typeface="Aptos"/>
              </a:rPr>
              <a:t>Useful approximate nutrition estimates</a:t>
            </a:r>
            <a:endParaRPr sz="13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43000" y="4069080"/>
            <a:ext cx="228600" cy="228600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005072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73344"/>
                </a:solidFill>
                <a:latin typeface="Aptos"/>
              </a:rPr>
              <a:t>Clearer warning when confidence is low</a:t>
            </a:r>
            <a:endParaRPr sz="13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1645920"/>
            <a:ext cx="507492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45920"/>
            <a:ext cx="5074920" cy="109728"/>
          </a:xfrm>
          <a:prstGeom prst="rect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42976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F8770"/>
                </a:solidFill>
                <a:latin typeface="Aptos"/>
              </a:rPr>
              <a:t>CURRENT LIMITATIONS</a:t>
            </a:r>
            <a:endParaRPr sz="1600" b="1" i="0">
              <a:solidFill>
                <a:srgbClr val="FF8770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629400" y="2697480"/>
            <a:ext cx="228600" cy="228600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633472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73344"/>
                </a:solidFill>
                <a:latin typeface="Aptos"/>
              </a:rPr>
              <a:t>Oil and ingredients may be hidden</a:t>
            </a:r>
            <a:endParaRPr sz="13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629400" y="3383280"/>
            <a:ext cx="228600" cy="228600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319272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73344"/>
                </a:solidFill>
                <a:latin typeface="Aptos"/>
              </a:rPr>
              <a:t>Portion size can be difficult to infer</a:t>
            </a:r>
            <a:endParaRPr sz="130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629400" y="4069080"/>
            <a:ext cx="228600" cy="228600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005072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0" i="0">
                <a:solidFill>
                  <a:srgbClr val="273344"/>
                </a:solidFill>
                <a:latin typeface="Aptos"/>
              </a:rPr>
              <a:t>Unfamiliar dishes need more testing</a:t>
            </a:r>
            <a:endParaRPr sz="1300" b="0" i="0">
              <a:solidFill>
                <a:srgbClr val="27334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6245352"/>
            <a:ext cx="109728" cy="109728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76888" y="6245352"/>
            <a:ext cx="109728" cy="109728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8056" y="6245352"/>
            <a:ext cx="109728" cy="109728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273344"/>
                </a:solidFill>
                <a:latin typeface="Aptos"/>
              </a:rPr>
              <a:t>Development Roadmap</a:t>
            </a:r>
            <a:endParaRPr sz="27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273344"/>
                </a:solidFill>
                <a:latin typeface="Aptos"/>
              </a:rPr>
              <a:t>A staged path from baseline model to robust cross-cuisine testing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" y="1161288"/>
            <a:ext cx="658368" cy="50292"/>
          </a:xfrm>
          <a:prstGeom prst="rect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200" b="1" i="0">
                <a:solidFill>
                  <a:srgbClr val="3DDCDC"/>
                </a:solidFill>
                <a:latin typeface="Aptos"/>
              </a:rPr>
              <a:t>11</a:t>
            </a:r>
            <a:endParaRPr sz="1200" b="1" i="0">
              <a:solidFill>
                <a:srgbClr val="3DDCDC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1508760" y="1920240"/>
            <a:ext cx="594360" cy="594360"/>
          </a:xfrm>
          <a:prstGeom prst="ellipse">
            <a:avLst/>
          </a:prstGeom>
          <a:solidFill>
            <a:srgbClr val="2E85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920240"/>
            <a:ext cx="594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0B1226"/>
                </a:solidFill>
                <a:latin typeface="Aptos"/>
              </a:rPr>
              <a:t>01</a:t>
            </a:r>
            <a:endParaRPr sz="1300" b="1" i="0">
              <a:solidFill>
                <a:srgbClr val="0B1226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67128" y="2212848"/>
            <a:ext cx="1261872" cy="0"/>
          </a:xfrm>
          <a:prstGeom prst="line">
            <a:avLst/>
          </a:prstGeom>
          <a:ln w="22860">
            <a:solidFill>
              <a:srgbClr val="AE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278892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196596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273344"/>
                </a:solidFill>
                <a:latin typeface="Aptos"/>
              </a:rPr>
              <a:t>Baseline</a:t>
            </a:r>
            <a:endParaRPr sz="16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493008"/>
            <a:ext cx="196596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0" i="0">
                <a:solidFill>
                  <a:srgbClr val="273344"/>
                </a:solidFill>
                <a:latin typeface="Aptos"/>
              </a:rPr>
              <a:t>Build photo-based nutrition estimate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89120" y="1920240"/>
            <a:ext cx="594360" cy="594360"/>
          </a:xfrm>
          <a:prstGeom prst="ellipse">
            <a:avLst/>
          </a:prstGeom>
          <a:solidFill>
            <a:srgbClr val="279DA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594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0B1226"/>
                </a:solidFill>
                <a:latin typeface="Aptos"/>
              </a:rPr>
              <a:t>02</a:t>
            </a:r>
            <a:endParaRPr sz="1300" b="1" i="0">
              <a:solidFill>
                <a:srgbClr val="0B1226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047488" y="2212848"/>
            <a:ext cx="1261872" cy="0"/>
          </a:xfrm>
          <a:prstGeom prst="line">
            <a:avLst/>
          </a:prstGeom>
          <a:ln w="22860">
            <a:solidFill>
              <a:srgbClr val="AE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6160" y="278892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999232"/>
            <a:ext cx="196596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273344"/>
                </a:solidFill>
                <a:latin typeface="Aptos"/>
              </a:rPr>
              <a:t>Uncertainty</a:t>
            </a:r>
            <a:endParaRPr sz="16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49039" y="3493008"/>
            <a:ext cx="196596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0" i="0">
                <a:solidFill>
                  <a:srgbClr val="273344"/>
                </a:solidFill>
                <a:latin typeface="Aptos"/>
              </a:rPr>
              <a:t>Add ranges to communicate confidence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269480" y="1920240"/>
            <a:ext cx="594360" cy="594360"/>
          </a:xfrm>
          <a:prstGeom prst="ellipse">
            <a:avLst/>
          </a:prstGeom>
          <a:solidFill>
            <a:srgbClr val="FFCD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920240"/>
            <a:ext cx="594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0B1226"/>
                </a:solidFill>
                <a:latin typeface="Aptos"/>
              </a:rPr>
              <a:t>03</a:t>
            </a:r>
            <a:endParaRPr sz="1300" b="1" i="0">
              <a:solidFill>
                <a:srgbClr val="0B1226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927848" y="2212848"/>
            <a:ext cx="1261872" cy="0"/>
          </a:xfrm>
          <a:prstGeom prst="line">
            <a:avLst/>
          </a:prstGeom>
          <a:ln w="22860">
            <a:solidFill>
              <a:srgbClr val="AEB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46520" y="278892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999232"/>
            <a:ext cx="196596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273344"/>
                </a:solidFill>
                <a:latin typeface="Aptos"/>
              </a:rPr>
              <a:t>Clarification</a:t>
            </a:r>
            <a:endParaRPr sz="16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29400" y="3493008"/>
            <a:ext cx="196596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0" i="0">
                <a:solidFill>
                  <a:srgbClr val="273344"/>
                </a:solidFill>
                <a:latin typeface="Aptos"/>
              </a:rPr>
              <a:t>Ask about portion size or added oil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149840" y="1920240"/>
            <a:ext cx="594360" cy="594360"/>
          </a:xfrm>
          <a:prstGeom prst="ellipse">
            <a:avLst/>
          </a:prstGeom>
          <a:solidFill>
            <a:srgbClr val="FF877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1920240"/>
            <a:ext cx="59436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0B1226"/>
                </a:solidFill>
                <a:latin typeface="Aptos"/>
              </a:rPr>
              <a:t>04</a:t>
            </a:r>
            <a:endParaRPr sz="1300" b="1" i="0">
              <a:solidFill>
                <a:srgbClr val="0B1226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326880" y="278892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59" y="2999232"/>
            <a:ext cx="196596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273344"/>
                </a:solidFill>
                <a:latin typeface="Aptos"/>
              </a:rPr>
              <a:t>Validation</a:t>
            </a:r>
            <a:endParaRPr sz="1600" b="1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509759" y="3493008"/>
            <a:ext cx="196596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0" i="0">
                <a:solidFill>
                  <a:srgbClr val="273344"/>
                </a:solidFill>
                <a:latin typeface="Aptos"/>
              </a:rPr>
              <a:t>Test across cuisines and document errors</a:t>
            </a:r>
            <a:endParaRPr sz="1150" b="0" i="0">
              <a:solidFill>
                <a:srgbClr val="273344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14400" y="5074920"/>
            <a:ext cx="102412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230368"/>
            <a:ext cx="97840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279DA0"/>
                </a:solidFill>
                <a:latin typeface="Aptos"/>
              </a:rPr>
              <a:t>Deliverable: a working prototype with transparent outputs and documented evaluation.</a:t>
            </a:r>
            <a:endParaRPr sz="1300" b="1" i="0">
              <a:solidFill>
                <a:srgbClr val="279DA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431540" y="1631315"/>
            <a:ext cx="10262870" cy="1971675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/>
            <a:endParaRPr lang="en-US" altLang="en-US" sz="4600" b="1">
              <a:solidFill>
                <a:srgbClr val="1A2B45"/>
              </a:solidFill>
              <a:latin typeface="Apto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3765</Words>
  <Application>WPS Docs</Application>
  <PresentationFormat>On-screen Show (4:3)</PresentationFormat>
  <Paragraphs>268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Helvetica Neue</vt:lpstr>
      <vt:lpstr>Microsoft YaHei</vt:lpstr>
      <vt:lpstr>汉仪旗黑</vt:lpstr>
      <vt:lpstr>Arial Unicode MS</vt:lpstr>
      <vt:lpstr>Calibri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tanusoni</cp:lastModifiedBy>
  <cp:revision>6</cp:revision>
  <dcterms:created xsi:type="dcterms:W3CDTF">2026-10-15T16:42:37Z</dcterms:created>
  <dcterms:modified xsi:type="dcterms:W3CDTF">2026-10-15T16:42:37Z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43B4E4C0BA002A697D02D16ACA079755_43</vt:lpwstr>
  </property>
</Properties>
</file>